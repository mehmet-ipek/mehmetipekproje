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</p:sldIdLst>
  <p:sldSz cx="18288000" cy="10287000"/>
  <p:notesSz cx="6858000" cy="9144000"/>
  <p:embeddedFontLst>
    <p:embeddedFont>
      <p:font typeface="Anton" pitchFamily="2" charset="-94"/>
      <p:regular r:id="rId30"/>
    </p:embeddedFont>
    <p:embeddedFont>
      <p:font typeface="Open Sauce" panose="020B0604020202020204" charset="-94"/>
      <p:regular r:id="rId31"/>
    </p:embeddedFont>
    <p:embeddedFont>
      <p:font typeface="Open Sauce Bold" panose="020B0604020202020204" charset="-9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73" autoAdjust="0"/>
    <p:restoredTop sz="94622" autoAdjust="0"/>
  </p:normalViewPr>
  <p:slideViewPr>
    <p:cSldViewPr>
      <p:cViewPr varScale="1">
        <p:scale>
          <a:sx n="54" d="100"/>
          <a:sy n="54" d="100"/>
        </p:scale>
        <p:origin x="466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font" Target="fonts/font1.fntdata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tr-TR"/>
              <a:t>Asıl alt başlık stilini düzenlemek için tıklayın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/>
              <a:t>Resim eklemek için simgeye tıklayın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49683" y="1474936"/>
            <a:ext cx="5763080" cy="7337128"/>
            <a:chOff x="0" y="0"/>
            <a:chExt cx="892852" cy="1136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852" cy="1136713"/>
            </a:xfrm>
            <a:custGeom>
              <a:avLst/>
              <a:gdLst/>
              <a:ahLst/>
              <a:cxnLst/>
              <a:rect l="l" t="t" r="r" b="b"/>
              <a:pathLst>
                <a:path w="892852" h="1136713">
                  <a:moveTo>
                    <a:pt x="0" y="0"/>
                  </a:moveTo>
                  <a:lnTo>
                    <a:pt x="892852" y="0"/>
                  </a:lnTo>
                  <a:lnTo>
                    <a:pt x="892852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39154" r="-39154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57201" y="4343022"/>
            <a:ext cx="10210596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640"/>
              </a:lnSpc>
              <a:spcBef>
                <a:spcPct val="0"/>
              </a:spcBef>
            </a:pPr>
            <a:r>
              <a:rPr lang="en-US" sz="24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BÖLÜM 7: İŞ DÜNYASINDA DEĞERLER, KURALLAR VE SÜRDÜRÜLEBILIRLIK STRATEJILERI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6812763" y="2988143"/>
            <a:ext cx="1475237" cy="4310714"/>
            <a:chOff x="0" y="0"/>
            <a:chExt cx="388540" cy="11353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88540" cy="1135332"/>
            </a:xfrm>
            <a:custGeom>
              <a:avLst/>
              <a:gdLst/>
              <a:ahLst/>
              <a:cxnLst/>
              <a:rect l="l" t="t" r="r" b="b"/>
              <a:pathLst>
                <a:path w="388540" h="1135332">
                  <a:moveTo>
                    <a:pt x="0" y="0"/>
                  </a:moveTo>
                  <a:lnTo>
                    <a:pt x="388540" y="0"/>
                  </a:lnTo>
                  <a:lnTo>
                    <a:pt x="388540" y="1135332"/>
                  </a:lnTo>
                  <a:lnTo>
                    <a:pt x="0" y="113533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388540" cy="1163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46813" y="2156253"/>
            <a:ext cx="10020983" cy="1806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GİRİŞİMCİLİKTE ETİK TEMELLER VE SOSYAL SORUMLULUK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01/24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7201" y="5389984"/>
            <a:ext cx="10020983" cy="2990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23010310054 ŞEYDA NUR OKÇU</a:t>
            </a: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23010310024 Dilara Çınar</a:t>
            </a: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23010310039 Mehmet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ipek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23670310047 Sina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Rahbaribanaeian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23010310045 Ahmet Nihat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KarkaÇ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23640310034 Azmi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Cankurtaran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23010310022 Furkan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Çat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algn="just">
              <a:lnSpc>
                <a:spcPts val="2640"/>
              </a:lnSpc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23010310051 Kaan </a:t>
            </a:r>
            <a:r>
              <a:rPr lang="en-US" sz="2200" b="1" spc="-132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Kuzucanlı</a:t>
            </a:r>
            <a:endParaRPr lang="en-US" sz="2200" b="1" spc="-132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  <a:p>
            <a:pPr marL="0" lvl="0" indent="0" algn="just">
              <a:lnSpc>
                <a:spcPts val="2640"/>
              </a:lnSpc>
              <a:spcBef>
                <a:spcPct val="0"/>
              </a:spcBef>
            </a:pPr>
            <a:r>
              <a:rPr lang="en-US" sz="2200" b="1" spc="-132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24110310033 BARIŞ CAN DURMUŞ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205327" y="432002"/>
            <a:ext cx="14423249" cy="302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spc="-29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GİRİŞ VE KAVRAMSAL ÇERÇEVE</a:t>
            </a:r>
          </a:p>
          <a:p>
            <a:pPr marL="0" lvl="0" indent="0" algn="l">
              <a:lnSpc>
                <a:spcPts val="11999"/>
              </a:lnSpc>
            </a:pPr>
            <a:endParaRPr lang="en-US" sz="9999" spc="-29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52476" y="5143500"/>
            <a:ext cx="7525858" cy="4474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600"/>
              </a:lnSpc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1.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Kavramsal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Derinlik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Farkındalık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Ayrımı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Gündelik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yaşamdaki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uygulamalı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kurallar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kuralların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felsefi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bilimsel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sorgulaması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arasındaki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farkların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analizi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değerlerin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ticari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kararlara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nasıl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entegre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edileceğinin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teorik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altyapısı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6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just">
              <a:lnSpc>
                <a:spcPts val="2400"/>
              </a:lnSpc>
              <a:spcBef>
                <a:spcPct val="0"/>
              </a:spcBef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02/24</a:t>
            </a: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29827982-598E-1D44-D551-A771FABB0FC0}"/>
              </a:ext>
            </a:extLst>
          </p:cNvPr>
          <p:cNvSpPr txBox="1"/>
          <p:nvPr/>
        </p:nvSpPr>
        <p:spPr>
          <a:xfrm>
            <a:off x="8763000" y="5472976"/>
            <a:ext cx="7938673" cy="43832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2.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Girişimcinin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Çok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Boyutlu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Sorumluluk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Analizi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Bireysel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Teknik,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operasyonel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ürün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odaklı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sorumlulukların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sınırları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Sosyal</a:t>
            </a: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 Bir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işletmenin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hatalarının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yarattığı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"domino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etkisi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sosyal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maliyetlerin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yönetimi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457200" indent="-457200">
              <a:lnSpc>
                <a:spcPts val="3600"/>
              </a:lnSpc>
              <a:buFont typeface="Arial" panose="020B0604020202020204" pitchFamily="34" charset="0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Örnek Olma: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rol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model"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olarak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katkısı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2520"/>
              </a:lnSpc>
            </a:pPr>
            <a:endParaRPr lang="en-US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endParaRPr lang="tr-TR" dirty="0"/>
          </a:p>
        </p:txBody>
      </p:sp>
      <p:sp>
        <p:nvSpPr>
          <p:cNvPr id="11" name="Metin kutusu 10">
            <a:extLst>
              <a:ext uri="{FF2B5EF4-FFF2-40B4-BE49-F238E27FC236}">
                <a16:creationId xmlns:a16="http://schemas.microsoft.com/office/drawing/2014/main" id="{6F97D8CE-4E32-E938-D895-2AAFE49BD1CD}"/>
              </a:ext>
            </a:extLst>
          </p:cNvPr>
          <p:cNvSpPr txBox="1"/>
          <p:nvPr/>
        </p:nvSpPr>
        <p:spPr>
          <a:xfrm>
            <a:off x="819271" y="3072549"/>
            <a:ext cx="1641299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Sunumun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Kapsamı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Öğrenme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Çıktıları</a:t>
            </a:r>
            <a:endParaRPr lang="en-US" sz="3200" b="1" spc="-179" dirty="0">
              <a:solidFill>
                <a:srgbClr val="000000"/>
              </a:solidFill>
              <a:ea typeface="Open Sauce Bold"/>
              <a:cs typeface="Open Sauce Bold"/>
              <a:sym typeface="Open Sauce Bold"/>
            </a:endParaRPr>
          </a:p>
          <a:p>
            <a:pPr>
              <a:lnSpc>
                <a:spcPts val="3600"/>
              </a:lnSpc>
            </a:pP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sunum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modern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iş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dünyasında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sadece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kâr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odaklı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değil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aynı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zamanda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odaklı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yönetim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anlayışını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nasıl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benimsemesi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gerektiğini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şu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başlıklar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altında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incelemektedir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0" y="-108496"/>
            <a:ext cx="5527246" cy="10395495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1960"/>
              </a:lnSpc>
            </a:pPr>
            <a:endParaRPr/>
          </a:p>
        </p:txBody>
      </p:sp>
      <p:sp>
        <p:nvSpPr>
          <p:cNvPr id="5" name="TextBox 5"/>
          <p:cNvSpPr txBox="1"/>
          <p:nvPr/>
        </p:nvSpPr>
        <p:spPr>
          <a:xfrm>
            <a:off x="1205327" y="432002"/>
            <a:ext cx="14423249" cy="302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999"/>
              </a:lnSpc>
            </a:pPr>
            <a:r>
              <a:rPr lang="en-US" sz="9999" spc="-29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GİRİŞ VE KAVRAMSAL ÇERÇEVE</a:t>
            </a:r>
          </a:p>
          <a:p>
            <a:pPr marL="0" lvl="0" indent="0" algn="l">
              <a:lnSpc>
                <a:spcPts val="11999"/>
              </a:lnSpc>
            </a:pPr>
            <a:endParaRPr lang="en-US" sz="9999" spc="-29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03/24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Metin kutusu 9">
            <a:extLst>
              <a:ext uri="{FF2B5EF4-FFF2-40B4-BE49-F238E27FC236}">
                <a16:creationId xmlns:a16="http://schemas.microsoft.com/office/drawing/2014/main" id="{17818FCC-EEB2-BD2E-20F5-C1281CA2A403}"/>
              </a:ext>
            </a:extLst>
          </p:cNvPr>
          <p:cNvSpPr txBox="1"/>
          <p:nvPr/>
        </p:nvSpPr>
        <p:spPr>
          <a:xfrm>
            <a:off x="996257" y="3009900"/>
            <a:ext cx="7319308" cy="577081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lnSpc>
                <a:spcPts val="3600"/>
              </a:lnSpc>
              <a:spcBef>
                <a:spcPts val="1800"/>
              </a:spcBef>
            </a:pPr>
            <a:r>
              <a:rPr lang="tr-TR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3. Etik ilkelerin Operasyonel İşleyişi:</a:t>
            </a:r>
            <a:endParaRPr lang="tr-TR" sz="2800" b="1" spc="-179" dirty="0">
              <a:solidFill>
                <a:srgbClr val="000000"/>
              </a:solidFill>
              <a:ea typeface="Open Sauce Bold"/>
              <a:cs typeface="Open Sauce Bold"/>
              <a:sym typeface="Open Sauce Bold"/>
            </a:endParaRPr>
          </a:p>
          <a:p>
            <a:pPr marL="342900" indent="-342900">
              <a:lnSpc>
                <a:spcPts val="36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Güvenilirlik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Öngörülebilirlik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Paydaş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yönetiminde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tutarlılığın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stratejik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önemi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342900" indent="-342900">
              <a:lnSpc>
                <a:spcPts val="36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Dürüstlük</a:t>
            </a:r>
            <a:r>
              <a:rPr lang="en-US" sz="28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Adil </a:t>
            </a:r>
            <a:r>
              <a:rPr lang="en-US" sz="2800" b="1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Rekabet</a:t>
            </a:r>
            <a:r>
              <a:rPr lang="en-US" sz="2800" b="1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Haksız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kazanç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taklitçiliğe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karşı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duruşun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uzun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vadeli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marka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değerine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katkısı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342900" indent="-342900">
              <a:lnSpc>
                <a:spcPts val="36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Hakkaniyet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Adalet: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Çalışan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haklarından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tedarikçi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ilişkilerine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kadar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hakkını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verme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prensibi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342900" indent="-342900">
              <a:lnSpc>
                <a:spcPts val="3600"/>
              </a:lnSpc>
              <a:spcBef>
                <a:spcPts val="18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Kaynak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Yönetimi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Zaman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hammaddenin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verimlilik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etiği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çerçevesinde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israfsız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kullanımı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28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>
              <a:spcBef>
                <a:spcPts val="1800"/>
              </a:spcBef>
            </a:pPr>
            <a:endParaRPr lang="tr-TR" sz="2400" dirty="0"/>
          </a:p>
        </p:txBody>
      </p:sp>
      <p:sp>
        <p:nvSpPr>
          <p:cNvPr id="12" name="Metin kutusu 11">
            <a:extLst>
              <a:ext uri="{FF2B5EF4-FFF2-40B4-BE49-F238E27FC236}">
                <a16:creationId xmlns:a16="http://schemas.microsoft.com/office/drawing/2014/main" id="{5D6D2D64-0A19-BEAD-C122-90FAD253EA47}"/>
              </a:ext>
            </a:extLst>
          </p:cNvPr>
          <p:cNvSpPr txBox="1"/>
          <p:nvPr/>
        </p:nvSpPr>
        <p:spPr>
          <a:xfrm>
            <a:off x="9493853" y="2445808"/>
            <a:ext cx="7313011" cy="7755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  <a:spcBef>
                <a:spcPts val="600"/>
              </a:spcBef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>
              <a:lnSpc>
                <a:spcPts val="3600"/>
              </a:lnSpc>
              <a:spcBef>
                <a:spcPts val="600"/>
              </a:spcBef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4.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Uygulama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Modelleri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Kurumsallaşma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Etik</a:t>
            </a:r>
            <a:r>
              <a:rPr lang="tr-TR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Liderlik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Liderin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davranışlarının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kurum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kültürüne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sosyal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bulaşma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yoluyla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etkisi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Etik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Rehber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Oluşturma</a:t>
            </a:r>
            <a:r>
              <a:rPr lang="en-US" sz="28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İşletme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içinde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karar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alma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süreçlerini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standartlaştıracak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yazılı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Kod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veya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Pusula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hazırlama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metodolojisi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28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>
              <a:lnSpc>
                <a:spcPts val="3600"/>
              </a:lnSpc>
              <a:spcBef>
                <a:spcPts val="600"/>
              </a:spcBef>
            </a:pPr>
            <a:endParaRPr lang="tr-TR" sz="28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just">
              <a:lnSpc>
                <a:spcPts val="3600"/>
              </a:lnSpc>
              <a:spcBef>
                <a:spcPts val="600"/>
              </a:spcBef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5.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Ölçme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Değerlendirme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Gerçek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vaka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analizleri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(Engin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Cahit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Örneği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üzerinden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çıkarımlar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Bölüm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sonu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değerlendirme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soruları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kazanılan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bilgilerin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test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edilmesi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kalıcılığının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sağlanması</a:t>
            </a:r>
            <a:r>
              <a:rPr lang="en-US" sz="28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lvl="0" algn="just">
              <a:lnSpc>
                <a:spcPts val="2400"/>
              </a:lnSpc>
              <a:spcBef>
                <a:spcPts val="600"/>
              </a:spcBef>
            </a:pPr>
            <a:endParaRPr lang="en-US" sz="30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342900" indent="-342900">
              <a:lnSpc>
                <a:spcPts val="36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sz="24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>
              <a:spcBef>
                <a:spcPts val="600"/>
              </a:spcBef>
            </a:pPr>
            <a:endParaRPr lang="tr-T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91502" y="1598995"/>
            <a:ext cx="14423249" cy="210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Girişimcilikte Etiğin Stratejik Önemi</a:t>
            </a:r>
          </a:p>
          <a:p>
            <a:pPr marL="0" lvl="0" indent="0" algn="l">
              <a:lnSpc>
                <a:spcPts val="8399"/>
              </a:lnSpc>
            </a:pPr>
            <a:endParaRPr lang="en-US" sz="6999" spc="-209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6768762" y="9186704"/>
            <a:ext cx="49053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04/24</a:t>
            </a:r>
          </a:p>
        </p:txBody>
      </p:sp>
      <p:sp>
        <p:nvSpPr>
          <p:cNvPr id="7" name="Freeform 7"/>
          <p:cNvSpPr/>
          <p:nvPr/>
        </p:nvSpPr>
        <p:spPr>
          <a:xfrm>
            <a:off x="11555041" y="3207070"/>
            <a:ext cx="6732959" cy="5610799"/>
          </a:xfrm>
          <a:custGeom>
            <a:avLst/>
            <a:gdLst/>
            <a:ahLst/>
            <a:cxnLst/>
            <a:rect l="l" t="t" r="r" b="b"/>
            <a:pathLst>
              <a:path w="6732959" h="5610799">
                <a:moveTo>
                  <a:pt x="0" y="0"/>
                </a:moveTo>
                <a:lnTo>
                  <a:pt x="6732959" y="0"/>
                </a:lnTo>
                <a:lnTo>
                  <a:pt x="6732959" y="5610799"/>
                </a:lnTo>
                <a:lnTo>
                  <a:pt x="0" y="56107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TextBox 8"/>
          <p:cNvSpPr txBox="1"/>
          <p:nvPr/>
        </p:nvSpPr>
        <p:spPr>
          <a:xfrm>
            <a:off x="1028700" y="3467100"/>
            <a:ext cx="10526341" cy="5050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ts val="3570"/>
              </a:lnSpc>
              <a:buFont typeface="Arial" panose="020B0604020202020204" pitchFamily="34" charset="0"/>
              <a:buChar char="•"/>
            </a:pPr>
            <a:r>
              <a:rPr lang="en-US" sz="3200" b="1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Ekonomik</a:t>
            </a: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Değer </a:t>
            </a:r>
            <a:r>
              <a:rPr lang="en-US" sz="3200" b="1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Olarak</a:t>
            </a: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b="1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Etik</a:t>
            </a: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: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Etik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sadece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iyilik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"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hareketi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değil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işletmenin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marka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değerini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müşteri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sadakatini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koruyan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finansal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kalkandır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.</a:t>
            </a:r>
            <a:endParaRPr lang="tr-TR" sz="3200" spc="-178" dirty="0">
              <a:solidFill>
                <a:srgbClr val="000000"/>
              </a:solidFill>
              <a:latin typeface="+mj-lt"/>
              <a:ea typeface="Open Sauce"/>
              <a:cs typeface="Open Sauce"/>
              <a:sym typeface="Open Sauce"/>
            </a:endParaRPr>
          </a:p>
          <a:p>
            <a:pPr marL="457200" indent="-457200">
              <a:lnSpc>
                <a:spcPts val="3570"/>
              </a:lnSpc>
              <a:buFont typeface="Arial" panose="020B0604020202020204" pitchFamily="34" charset="0"/>
              <a:buChar char="•"/>
            </a:pPr>
            <a:endParaRPr lang="en-US" sz="3200" spc="-178" dirty="0">
              <a:solidFill>
                <a:srgbClr val="000000"/>
              </a:solidFill>
              <a:latin typeface="+mj-lt"/>
              <a:ea typeface="Open Sauce"/>
              <a:cs typeface="Open Sauce"/>
              <a:sym typeface="Open Sauce"/>
            </a:endParaRPr>
          </a:p>
          <a:p>
            <a:pPr marL="457200" indent="-457200">
              <a:lnSpc>
                <a:spcPts val="3570"/>
              </a:lnSpc>
              <a:buFont typeface="Arial" panose="020B0604020202020204" pitchFamily="34" charset="0"/>
              <a:buChar char="•"/>
            </a:pPr>
            <a:r>
              <a:rPr lang="en-US" sz="3200" b="1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Sürdürülebilirlik</a:t>
            </a: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: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Günümüzde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yatırımcılar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tüketiciler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sadece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kâr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eden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değil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bu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kârı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nasıl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"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elde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ettiğini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açıklayabilen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girişimleri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tercih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etmektedir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.</a:t>
            </a:r>
            <a:endParaRPr lang="tr-TR" sz="3200" spc="-178" dirty="0">
              <a:solidFill>
                <a:srgbClr val="000000"/>
              </a:solidFill>
              <a:latin typeface="+mj-lt"/>
              <a:ea typeface="Open Sauce"/>
              <a:cs typeface="Open Sauce"/>
              <a:sym typeface="Open Sauce"/>
            </a:endParaRPr>
          </a:p>
          <a:p>
            <a:pPr marL="457200" indent="-457200">
              <a:lnSpc>
                <a:spcPts val="3570"/>
              </a:lnSpc>
              <a:buFont typeface="Arial" panose="020B0604020202020204" pitchFamily="34" charset="0"/>
              <a:buChar char="•"/>
            </a:pPr>
            <a:endParaRPr lang="en-US" sz="3200" spc="-178" dirty="0">
              <a:solidFill>
                <a:srgbClr val="000000"/>
              </a:solidFill>
              <a:latin typeface="+mj-lt"/>
              <a:ea typeface="Open Sauce"/>
              <a:cs typeface="Open Sauce"/>
              <a:sym typeface="Open Sauce"/>
            </a:endParaRPr>
          </a:p>
          <a:p>
            <a:pPr marL="457200" indent="-457200">
              <a:lnSpc>
                <a:spcPts val="3570"/>
              </a:lnSpc>
              <a:buFont typeface="Arial" panose="020B0604020202020204" pitchFamily="34" charset="0"/>
              <a:buChar char="•"/>
            </a:pP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Güven </a:t>
            </a:r>
            <a:r>
              <a:rPr lang="en-US" sz="3200" b="1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Endeksi</a:t>
            </a:r>
            <a:r>
              <a:rPr lang="en-US" sz="3200" b="1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: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İş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dünyasında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güven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inşa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etmek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yıllar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sürerken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tek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etik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dışı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davranışla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bu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güvenin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yıkılması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saniyeler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8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alır</a:t>
            </a:r>
            <a:r>
              <a:rPr lang="en-US" sz="3200" spc="-178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just">
              <a:lnSpc>
                <a:spcPts val="3570"/>
              </a:lnSpc>
              <a:spcBef>
                <a:spcPct val="0"/>
              </a:spcBef>
            </a:pPr>
            <a:endParaRPr lang="en-US" sz="2975" spc="-178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943681" y="1231492"/>
            <a:ext cx="14400638" cy="7824015"/>
          </a:xfrm>
          <a:custGeom>
            <a:avLst/>
            <a:gdLst/>
            <a:ahLst/>
            <a:cxnLst/>
            <a:rect l="l" t="t" r="r" b="b"/>
            <a:pathLst>
              <a:path w="14400638" h="7824015">
                <a:moveTo>
                  <a:pt x="0" y="0"/>
                </a:moveTo>
                <a:lnTo>
                  <a:pt x="14400638" y="0"/>
                </a:lnTo>
                <a:lnTo>
                  <a:pt x="14400638" y="7824016"/>
                </a:lnTo>
                <a:lnTo>
                  <a:pt x="0" y="78240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270" b="-270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05/24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704902" y="3762389"/>
            <a:ext cx="14878196" cy="34470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tr-TR" sz="3200" b="1" dirty="0"/>
              <a:t>Engin ve Cahit Vakası</a:t>
            </a:r>
            <a:endParaRPr lang="tr-T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200" dirty="0"/>
              <a:t>Öğrencilere ödev ve tez yazımı sağlayan dijital platform kurulmuştur.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200" dirty="0"/>
              <a:t>Girişim kısa sürede büyüyerek geniş bir yazar kadrosuna ulaşmıştır.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200" dirty="0"/>
              <a:t>Ancak sistem öğrencileri akademik usulsüzlüğe teşvik ettiği için eleştirilmiştir.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tr-TR" sz="3200" dirty="0"/>
              <a:t>Şirket içinde etik değer eksikliği çalışanların istifasına yol açmıştır.</a:t>
            </a:r>
          </a:p>
          <a:p>
            <a:r>
              <a:rPr lang="tr-TR" sz="3200" b="1" dirty="0"/>
              <a:t>Sonuç:</a:t>
            </a:r>
            <a:br>
              <a:rPr lang="tr-TR" sz="3200" dirty="0"/>
            </a:br>
            <a:r>
              <a:rPr lang="tr-TR" sz="3200" dirty="0"/>
              <a:t>Kar getiren her iş etik veya meşru olmayabilir.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06/24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932375" y="1988554"/>
            <a:ext cx="14423249" cy="104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399"/>
              </a:lnSpc>
            </a:pP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ÖRNEK OLAY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43511" y="6444561"/>
            <a:ext cx="4767689" cy="2330983"/>
            <a:chOff x="0" y="0"/>
            <a:chExt cx="1255688" cy="61392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55688" cy="613922"/>
            </a:xfrm>
            <a:custGeom>
              <a:avLst/>
              <a:gdLst/>
              <a:ahLst/>
              <a:cxnLst/>
              <a:rect l="l" t="t" r="r" b="b"/>
              <a:pathLst>
                <a:path w="1255688" h="613922">
                  <a:moveTo>
                    <a:pt x="0" y="0"/>
                  </a:moveTo>
                  <a:lnTo>
                    <a:pt x="1255688" y="0"/>
                  </a:lnTo>
                  <a:lnTo>
                    <a:pt x="1255688" y="613922"/>
                  </a:lnTo>
                  <a:lnTo>
                    <a:pt x="0" y="61392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255688" cy="642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478372" y="1813711"/>
            <a:ext cx="11406998" cy="2225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Ahlak Kavramı: YaşananGerçeklik</a:t>
            </a:r>
          </a:p>
          <a:p>
            <a:pPr marL="0" lvl="0" indent="0" algn="l">
              <a:lnSpc>
                <a:spcPts val="9999"/>
              </a:lnSpc>
            </a:pPr>
            <a:endParaRPr lang="en-US" sz="6999" spc="-209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309652" y="7076021"/>
            <a:ext cx="4569796" cy="1085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Yaşanan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hayatla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iç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içedir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ve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pratik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bir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karşılığı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vardır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b="1" spc="-144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43511" y="5633996"/>
            <a:ext cx="3613076" cy="720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ÖZELLIKLERI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914627" y="6453413"/>
            <a:ext cx="4767689" cy="2330983"/>
            <a:chOff x="0" y="0"/>
            <a:chExt cx="1255688" cy="61392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55688" cy="613922"/>
            </a:xfrm>
            <a:custGeom>
              <a:avLst/>
              <a:gdLst/>
              <a:ahLst/>
              <a:cxnLst/>
              <a:rect l="l" t="t" r="r" b="b"/>
              <a:pathLst>
                <a:path w="1255688" h="613922">
                  <a:moveTo>
                    <a:pt x="0" y="0"/>
                  </a:moveTo>
                  <a:lnTo>
                    <a:pt x="1255688" y="0"/>
                  </a:lnTo>
                  <a:lnTo>
                    <a:pt x="1255688" y="613922"/>
                  </a:lnTo>
                  <a:lnTo>
                    <a:pt x="0" y="61392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255688" cy="642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7092579" y="7013577"/>
            <a:ext cx="4569796" cy="11174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Hem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bireyin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vicdanına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hem de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toplumsal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yaptırımlara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dayanır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800" b="1" spc="-144" dirty="0">
              <a:solidFill>
                <a:srgbClr val="000000"/>
              </a:solidFill>
              <a:ea typeface="Open Sauce Bold"/>
              <a:cs typeface="Open Sauce Bold"/>
              <a:sym typeface="Open Sauce Bold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2267297" y="6406829"/>
            <a:ext cx="4767689" cy="2330983"/>
            <a:chOff x="0" y="0"/>
            <a:chExt cx="1255688" cy="61392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255688" cy="613922"/>
            </a:xfrm>
            <a:custGeom>
              <a:avLst/>
              <a:gdLst/>
              <a:ahLst/>
              <a:cxnLst/>
              <a:rect l="l" t="t" r="r" b="b"/>
              <a:pathLst>
                <a:path w="1255688" h="613922">
                  <a:moveTo>
                    <a:pt x="0" y="0"/>
                  </a:moveTo>
                  <a:lnTo>
                    <a:pt x="1255688" y="0"/>
                  </a:lnTo>
                  <a:lnTo>
                    <a:pt x="1255688" y="613922"/>
                  </a:lnTo>
                  <a:lnTo>
                    <a:pt x="0" y="61392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1255688" cy="6424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505422" y="6886207"/>
            <a:ext cx="4569447" cy="1465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Yazılı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olmayan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ama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gündelik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yaşamı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sessizce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yöneten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bir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"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toplumsal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2800" b="1" spc="-144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sözleşme"dir</a:t>
            </a:r>
            <a:r>
              <a:rPr lang="en-US" sz="2800" b="1" spc="-144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b="1" spc="-144" dirty="0">
              <a:solidFill>
                <a:srgbClr val="000000"/>
              </a:solidFill>
              <a:latin typeface="Open Sauce Bold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07/24</a:t>
            </a:r>
          </a:p>
        </p:txBody>
      </p:sp>
      <p:sp>
        <p:nvSpPr>
          <p:cNvPr id="21" name="Freeform 21"/>
          <p:cNvSpPr/>
          <p:nvPr/>
        </p:nvSpPr>
        <p:spPr>
          <a:xfrm rot="5400000">
            <a:off x="2098679" y="784045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8" y="0"/>
                </a:lnTo>
                <a:lnTo>
                  <a:pt x="933088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2" name="TextBox 22"/>
          <p:cNvSpPr txBox="1"/>
          <p:nvPr/>
        </p:nvSpPr>
        <p:spPr>
          <a:xfrm>
            <a:off x="1243511" y="3257253"/>
            <a:ext cx="14878196" cy="22955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600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Tanım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içerisinde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bireylerin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birbirleriyle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ilişkilerini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düzenleyen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zamanla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kemikleşmiş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değerler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kurallar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bütünüdür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3600"/>
              </a:lnSpc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Temel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İşlevi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Gündelik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yaşamın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karmaşasını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önlemek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düzeni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sağlamaktır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36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0" indent="0" algn="just">
              <a:lnSpc>
                <a:spcPts val="3600"/>
              </a:lnSpc>
              <a:spcBef>
                <a:spcPct val="0"/>
              </a:spcBef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1680361"/>
            <a:ext cx="16230600" cy="25621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Etik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Kavramı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: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Ahlakın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Felsefi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Sorgulanması</a:t>
            </a:r>
            <a:endParaRPr lang="en-US" sz="6999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>
              <a:lnSpc>
                <a:spcPts val="11999"/>
              </a:lnSpc>
            </a:pPr>
            <a:endParaRPr lang="en-US" sz="6999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51217" y="3759502"/>
            <a:ext cx="9177870" cy="138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Tanım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Olgusal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olarak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yaşanan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araştırılması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sorgulanması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temellendirilmesidir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251217" y="5140613"/>
            <a:ext cx="9177870" cy="44242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Felsefi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Boyut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İnsanın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ilişkilerini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nasıl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yönlendirmesi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gerektiğini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"iyi"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kötü"yü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belirleyen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evrensel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ölçütlerin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neler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olduğunu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inceleyen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bilim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dalıdır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599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599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Ahlak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vs.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Etik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"ne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yapmalıyım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?"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sorusuna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yanıt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ararken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;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"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neden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bunu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yapmalıyım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?"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sorusunun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felsefi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zeminini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119"/>
              </a:lnSpc>
            </a:pPr>
            <a:endParaRPr lang="en-US" sz="32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19"/>
              </a:lnSpc>
            </a:pPr>
            <a:endParaRPr lang="en-US" sz="2999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119"/>
              </a:lnSpc>
            </a:pPr>
            <a:endParaRPr lang="en-US" sz="2999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08/24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8400364" y="3293509"/>
            <a:ext cx="10509345" cy="5921770"/>
          </a:xfrm>
          <a:custGeom>
            <a:avLst/>
            <a:gdLst/>
            <a:ahLst/>
            <a:cxnLst/>
            <a:rect l="l" t="t" r="r" b="b"/>
            <a:pathLst>
              <a:path w="10509345" h="5921770">
                <a:moveTo>
                  <a:pt x="0" y="0"/>
                </a:moveTo>
                <a:lnTo>
                  <a:pt x="10509345" y="0"/>
                </a:lnTo>
                <a:lnTo>
                  <a:pt x="10509345" y="5921770"/>
                </a:lnTo>
                <a:lnTo>
                  <a:pt x="0" y="59217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028700" y="1680361"/>
            <a:ext cx="16230600" cy="21049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Sorumluluk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Alanları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Genel </a:t>
            </a:r>
            <a:r>
              <a:rPr lang="en-US" sz="6999" spc="-209" dirty="0" err="1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Bakış</a:t>
            </a:r>
            <a:endParaRPr lang="en-US" sz="6999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  <a:p>
            <a:pPr marL="0" lvl="0" indent="0" algn="l">
              <a:lnSpc>
                <a:spcPts val="8399"/>
              </a:lnSpc>
            </a:pPr>
            <a:endParaRPr lang="en-US" sz="6999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685800" y="3750130"/>
            <a:ext cx="9177870" cy="1381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sadece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kendine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karşı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değil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paydaşlarına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karşı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da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sorumludur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l">
              <a:lnSpc>
                <a:spcPts val="3600"/>
              </a:lnSpc>
              <a:spcBef>
                <a:spcPct val="0"/>
              </a:spcBef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85800" y="5155759"/>
            <a:ext cx="9177870" cy="4127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Bireysel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Sorumluluk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İşletmenin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varlığını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sürdürmesi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için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gereken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teknik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süreçler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599"/>
              </a:lnSpc>
              <a:buFont typeface="Arial" panose="020B0604020202020204" pitchFamily="34" charset="0"/>
              <a:buChar char="•"/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Sosyal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Sorumluluk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Kararların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dış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çevreye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etkilerinin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yönetilmesi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599"/>
              </a:lnSpc>
              <a:buFont typeface="Arial" panose="020B0604020202020204" pitchFamily="34" charset="0"/>
              <a:buChar char="•"/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457200" indent="-457200" algn="l">
              <a:lnSpc>
                <a:spcPts val="3599"/>
              </a:lnSpc>
              <a:buFont typeface="Arial" panose="020B0604020202020204" pitchFamily="34" charset="0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Örnek Olma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Sorumluluğu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kalkınmaya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verilen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destek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599"/>
              </a:lnSpc>
            </a:pPr>
            <a:endParaRPr lang="en-US" sz="2999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09/24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049683" y="1474936"/>
            <a:ext cx="5763080" cy="7337128"/>
            <a:chOff x="0" y="0"/>
            <a:chExt cx="892852" cy="1136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852" cy="1136713"/>
            </a:xfrm>
            <a:custGeom>
              <a:avLst/>
              <a:gdLst/>
              <a:ahLst/>
              <a:cxnLst/>
              <a:rect l="l" t="t" r="r" b="b"/>
              <a:pathLst>
                <a:path w="892852" h="1136713">
                  <a:moveTo>
                    <a:pt x="0" y="0"/>
                  </a:moveTo>
                  <a:lnTo>
                    <a:pt x="892852" y="0"/>
                  </a:lnTo>
                  <a:lnTo>
                    <a:pt x="892852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37603" r="-6732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812763" y="2988143"/>
            <a:ext cx="1475237" cy="4310714"/>
            <a:chOff x="0" y="0"/>
            <a:chExt cx="388540" cy="1135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540" cy="1135332"/>
            </a:xfrm>
            <a:custGeom>
              <a:avLst/>
              <a:gdLst/>
              <a:ahLst/>
              <a:cxnLst/>
              <a:rect l="l" t="t" r="r" b="b"/>
              <a:pathLst>
                <a:path w="388540" h="1135332">
                  <a:moveTo>
                    <a:pt x="0" y="0"/>
                  </a:moveTo>
                  <a:lnTo>
                    <a:pt x="388540" y="0"/>
                  </a:lnTo>
                  <a:lnTo>
                    <a:pt x="388540" y="1135332"/>
                  </a:lnTo>
                  <a:lnTo>
                    <a:pt x="0" y="113533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88540" cy="1163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028700" y="1639173"/>
            <a:ext cx="10020983" cy="1955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6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BIREYSEL SORUMLULUKLAR: OPERASYONEL MÜKEMMELLIK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30492" y="3652401"/>
            <a:ext cx="10020983" cy="5078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dirty="0"/>
          </a:p>
          <a:p>
            <a:pPr marL="323850" lvl="1" algn="l">
              <a:lnSpc>
                <a:spcPts val="3600"/>
              </a:lnSpc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Kapsam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ana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faaliyet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alanındaki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profesyonellik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düzeyini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temsil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eder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323850" lvl="1" algn="l">
              <a:lnSpc>
                <a:spcPts val="36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323850" lvl="1" algn="l">
              <a:lnSpc>
                <a:spcPts val="3600"/>
              </a:lnSpc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Alt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Başlıklar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Hedef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kitleye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uygun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kaliteli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ürün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/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hizmet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geliştirme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Üretim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standartlarının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korunması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tedarik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zincirinin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sürekliliği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Şeffaf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pazarlama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satış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sonrası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müşteri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memnuniyeti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yönetimi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işletmenin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ekonomik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temelini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varlık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nedenini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oluşturur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36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10/24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1334646" y="2848869"/>
            <a:ext cx="5472422" cy="4994829"/>
          </a:xfrm>
          <a:custGeom>
            <a:avLst/>
            <a:gdLst/>
            <a:ahLst/>
            <a:cxnLst/>
            <a:rect l="l" t="t" r="r" b="b"/>
            <a:pathLst>
              <a:path w="5472422" h="4994829">
                <a:moveTo>
                  <a:pt x="0" y="0"/>
                </a:moveTo>
                <a:lnTo>
                  <a:pt x="5472422" y="0"/>
                </a:lnTo>
                <a:lnTo>
                  <a:pt x="5472422" y="4994829"/>
                </a:lnTo>
                <a:lnTo>
                  <a:pt x="0" y="49948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914400" y="1057337"/>
            <a:ext cx="15795005" cy="29623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212849" lvl="2">
              <a:lnSpc>
                <a:spcPts val="7699"/>
              </a:lnSpc>
            </a:pPr>
            <a:r>
              <a:rPr lang="en-US" sz="6600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SOSYAL SORUMLULUKLAR:</a:t>
            </a:r>
            <a:r>
              <a:rPr lang="tr-TR" sz="6600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600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TOPLUMSAL MALIYET YÖNETIMI​</a:t>
            </a:r>
          </a:p>
          <a:p>
            <a:pPr marL="0" lvl="0" indent="0" algn="l">
              <a:lnSpc>
                <a:spcPts val="7699"/>
              </a:lnSpc>
            </a:pPr>
            <a:endParaRPr lang="en-US" sz="6600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382663" y="4073934"/>
            <a:ext cx="9414584" cy="4591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b="1" spc="-179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Tanım</a:t>
            </a:r>
            <a:r>
              <a:rPr lang="en-US" sz="3000" b="1" spc="-17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Girişimcinin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bireysel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sorumluluklarını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aksatması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durumunda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toplumun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ödediği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bedeldir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36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b="1" spc="-179" dirty="0" err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Mekanizma</a:t>
            </a:r>
            <a:r>
              <a:rPr lang="en-US" sz="3000" b="1" spc="-17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Bir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işletme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kâr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ederken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topluma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zarar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vermemeli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aksine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toplumun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refahını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artırmalıdır</a:t>
            </a:r>
            <a:r>
              <a:rPr lang="en-US" sz="3000" b="1" spc="-17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3600"/>
              </a:lnSpc>
            </a:pPr>
            <a:r>
              <a:rPr lang="en-US" sz="3000" b="1" spc="-17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​</a:t>
            </a:r>
          </a:p>
          <a:p>
            <a:pPr marL="647700" lvl="1" indent="-323850" algn="l">
              <a:lnSpc>
                <a:spcPts val="3600"/>
              </a:lnSpc>
              <a:buFont typeface="Arial"/>
              <a:buChar char="•"/>
            </a:pPr>
            <a:r>
              <a:rPr lang="en-US" sz="3000" b="1" spc="-179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Kritik Soru: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"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Benim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işimi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eksik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yapmam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,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benden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hizmet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bekleyen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diğer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sektörleri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veya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insanları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nasıl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  <a:r>
              <a:rPr lang="en-US" sz="3000" spc="-179" dirty="0" err="1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etkiler</a:t>
            </a:r>
            <a:r>
              <a:rPr lang="en-US" sz="3000" spc="-179" dirty="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?</a:t>
            </a:r>
          </a:p>
          <a:p>
            <a:pPr algn="l">
              <a:lnSpc>
                <a:spcPts val="3692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11/24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555620" y="507750"/>
            <a:ext cx="9884282" cy="9271500"/>
          </a:xfrm>
          <a:custGeom>
            <a:avLst/>
            <a:gdLst/>
            <a:ahLst/>
            <a:cxnLst/>
            <a:rect l="l" t="t" r="r" b="b"/>
            <a:pathLst>
              <a:path w="9884282" h="9271500">
                <a:moveTo>
                  <a:pt x="0" y="0"/>
                </a:moveTo>
                <a:lnTo>
                  <a:pt x="9884282" y="0"/>
                </a:lnTo>
                <a:lnTo>
                  <a:pt x="9884282" y="9271500"/>
                </a:lnTo>
                <a:lnTo>
                  <a:pt x="0" y="9271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144" b="-546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12/24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96220" y="1071721"/>
            <a:ext cx="5763080" cy="7337128"/>
            <a:chOff x="0" y="0"/>
            <a:chExt cx="892852" cy="1136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852" cy="1136713"/>
            </a:xfrm>
            <a:custGeom>
              <a:avLst/>
              <a:gdLst/>
              <a:ahLst/>
              <a:cxnLst/>
              <a:rect l="l" t="t" r="r" b="b"/>
              <a:pathLst>
                <a:path w="892852" h="1136713">
                  <a:moveTo>
                    <a:pt x="0" y="0"/>
                  </a:moveTo>
                  <a:lnTo>
                    <a:pt x="892852" y="0"/>
                  </a:lnTo>
                  <a:lnTo>
                    <a:pt x="892852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33172" r="-57558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2988143"/>
            <a:ext cx="1475237" cy="4310714"/>
            <a:chOff x="0" y="0"/>
            <a:chExt cx="388540" cy="1135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540" cy="1135332"/>
            </a:xfrm>
            <a:custGeom>
              <a:avLst/>
              <a:gdLst/>
              <a:ahLst/>
              <a:cxnLst/>
              <a:rect l="l" t="t" r="r" b="b"/>
              <a:pathLst>
                <a:path w="388540" h="1135332">
                  <a:moveTo>
                    <a:pt x="0" y="0"/>
                  </a:moveTo>
                  <a:lnTo>
                    <a:pt x="388540" y="0"/>
                  </a:lnTo>
                  <a:lnTo>
                    <a:pt x="388540" y="1135332"/>
                  </a:lnTo>
                  <a:lnTo>
                    <a:pt x="0" y="113533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88540" cy="1163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034148" y="8408849"/>
            <a:ext cx="10287683" cy="1409307"/>
            <a:chOff x="0" y="0"/>
            <a:chExt cx="2709513" cy="37117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709513" cy="371176"/>
            </a:xfrm>
            <a:custGeom>
              <a:avLst/>
              <a:gdLst/>
              <a:ahLst/>
              <a:cxnLst/>
              <a:rect l="l" t="t" r="r" b="b"/>
              <a:pathLst>
                <a:path w="2709513" h="371176">
                  <a:moveTo>
                    <a:pt x="0" y="0"/>
                  </a:moveTo>
                  <a:lnTo>
                    <a:pt x="2709513" y="0"/>
                  </a:lnTo>
                  <a:lnTo>
                    <a:pt x="2709513" y="371176"/>
                  </a:lnTo>
                  <a:lnTo>
                    <a:pt x="0" y="371176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709513" cy="399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466774" y="2751355"/>
            <a:ext cx="7618734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Tedarik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Zinciri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Krizi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 un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fabrikasının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üretimi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durdurması,bakkalların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ekmeksiz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kalmasına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halkın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gıdaya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ulaşamamasına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neden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olur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just">
              <a:lnSpc>
                <a:spcPts val="36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Altyapı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Gecikmesi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İnşaat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malzemesi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üreticisinin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siparişi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yetiştirememesi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okulun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kış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öncesi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çatısız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kalmasına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eğitimin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aksamasına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yol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açar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just">
              <a:lnSpc>
                <a:spcPts val="3600"/>
              </a:lnSpc>
            </a:pP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​</a:t>
            </a:r>
          </a:p>
          <a:p>
            <a:pPr marL="647700" lvl="1" indent="-323850" algn="just">
              <a:lnSpc>
                <a:spcPts val="36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Ders: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Hiçbir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sadece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kendinden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ibaret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değildir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; her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işletme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dişlinin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parçasıdır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just">
              <a:lnSpc>
                <a:spcPts val="36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0150840" y="8646778"/>
            <a:ext cx="7866694" cy="92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TEKNOLOJ</a:t>
            </a:r>
            <a:r>
              <a:rPr lang="en-US" sz="3000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 INSANLAR IÇINDIR.</a:t>
            </a:r>
          </a:p>
          <a:p>
            <a:pPr algn="l">
              <a:lnSpc>
                <a:spcPts val="3600"/>
              </a:lnSpc>
            </a:pPr>
            <a:r>
              <a:rPr lang="en-US" sz="3000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YÖNÜNÜ BELIRLEYECEK OLAN DA YINE INSANLARDIR.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137160" y="8090534"/>
            <a:ext cx="2013679" cy="411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370"/>
              </a:lnSpc>
            </a:pPr>
            <a:r>
              <a:rPr lang="en-US" sz="26975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”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377760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13/24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0" y="711256"/>
            <a:ext cx="9924452" cy="3111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11299" lvl="1" indent="-755650" algn="l">
              <a:lnSpc>
                <a:spcPts val="6999"/>
              </a:lnSpc>
              <a:buFont typeface="Arial"/>
              <a:buChar char="•"/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SOSYAL SORUMLULUKTA ZINCIRLEME ETKI ÖRNEKLERI​</a:t>
            </a:r>
          </a:p>
          <a:p>
            <a:pPr marL="0" lvl="0" indent="0" algn="l">
              <a:lnSpc>
                <a:spcPts val="9999"/>
              </a:lnSpc>
            </a:pPr>
            <a:endParaRPr lang="en-US" sz="6999" spc="-209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1430683" y="1320077"/>
            <a:ext cx="5763080" cy="7337128"/>
            <a:chOff x="0" y="0"/>
            <a:chExt cx="892852" cy="1136713"/>
          </a:xfrm>
        </p:grpSpPr>
        <p:sp>
          <p:nvSpPr>
            <p:cNvPr id="6" name="Freeform 6"/>
            <p:cNvSpPr/>
            <p:nvPr/>
          </p:nvSpPr>
          <p:spPr>
            <a:xfrm rot="-5481973">
              <a:off x="-132413" y="108506"/>
              <a:ext cx="1157678" cy="919701"/>
            </a:xfrm>
            <a:custGeom>
              <a:avLst/>
              <a:gdLst/>
              <a:ahLst/>
              <a:cxnLst/>
              <a:rect l="l" t="t" r="r" b="b"/>
              <a:pathLst>
                <a:path w="1157678" h="919701">
                  <a:moveTo>
                    <a:pt x="1157678" y="27103"/>
                  </a:moveTo>
                  <a:lnTo>
                    <a:pt x="1136390" y="919701"/>
                  </a:lnTo>
                  <a:lnTo>
                    <a:pt x="0" y="892598"/>
                  </a:lnTo>
                  <a:lnTo>
                    <a:pt x="21288" y="0"/>
                  </a:lnTo>
                  <a:close/>
                </a:path>
              </a:pathLst>
            </a:custGeom>
            <a:blipFill>
              <a:blip r:embed="rId2"/>
              <a:stretch>
                <a:fillRect l="-9508" r="-9508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812763" y="7213132"/>
            <a:ext cx="1475237" cy="1214840"/>
            <a:chOff x="0" y="0"/>
            <a:chExt cx="388540" cy="3199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540" cy="319958"/>
            </a:xfrm>
            <a:custGeom>
              <a:avLst/>
              <a:gdLst/>
              <a:ahLst/>
              <a:cxnLst/>
              <a:rect l="l" t="t" r="r" b="b"/>
              <a:pathLst>
                <a:path w="388540" h="319958">
                  <a:moveTo>
                    <a:pt x="0" y="0"/>
                  </a:moveTo>
                  <a:lnTo>
                    <a:pt x="388540" y="0"/>
                  </a:lnTo>
                  <a:lnTo>
                    <a:pt x="388540" y="319958"/>
                  </a:lnTo>
                  <a:lnTo>
                    <a:pt x="0" y="319958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88540" cy="348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935831"/>
            <a:ext cx="10683855" cy="336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11299" lvl="1" indent="-755650" algn="l">
              <a:lnSpc>
                <a:spcPts val="7699"/>
              </a:lnSpc>
              <a:buFont typeface="Arial"/>
              <a:buChar char="•"/>
            </a:pP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ÖRNEK OLMA SORUMLULUĞU: ET</a:t>
            </a:r>
            <a:r>
              <a:rPr lang="tr-TR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L</a:t>
            </a:r>
            <a:r>
              <a:rPr lang="tr-TR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DERL</a:t>
            </a:r>
            <a:r>
              <a:rPr lang="tr-TR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M</a:t>
            </a:r>
            <a:r>
              <a:rPr lang="tr-TR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999" spc="-209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SYONU​</a:t>
            </a:r>
          </a:p>
          <a:p>
            <a:pPr marL="0" lvl="0" indent="0" algn="l">
              <a:lnSpc>
                <a:spcPts val="10999"/>
              </a:lnSpc>
            </a:pPr>
            <a:endParaRPr lang="en-US" sz="6999" spc="-209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62872" y="3456173"/>
            <a:ext cx="10020983" cy="5847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İş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Dünyasında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Rol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Modellik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;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sözünde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durma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hakları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gözetme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dürüst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rekabet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ilkeleriyle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saygı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uyandırmasıdır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Ahlaki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Yozlaşma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ile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Mücadele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değerlerin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zayıfladığı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dönemlerde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ilkeli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kutup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yıldızı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görevi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görür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Güven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İnşası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kişisel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dürüstlüğü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markanın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büyük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sermayesidir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3639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14/24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3723124" y="726895"/>
            <a:ext cx="11439065" cy="8156543"/>
          </a:xfrm>
          <a:custGeom>
            <a:avLst/>
            <a:gdLst/>
            <a:ahLst/>
            <a:cxnLst/>
            <a:rect l="l" t="t" r="r" b="b"/>
            <a:pathLst>
              <a:path w="11439065" h="8156543">
                <a:moveTo>
                  <a:pt x="0" y="0"/>
                </a:moveTo>
                <a:lnTo>
                  <a:pt x="11439065" y="0"/>
                </a:lnTo>
                <a:lnTo>
                  <a:pt x="11439065" y="8156544"/>
                </a:lnTo>
                <a:lnTo>
                  <a:pt x="0" y="815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15147" b="-24921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15/24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276807" y="1364406"/>
            <a:ext cx="14072183" cy="974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563"/>
              </a:lnSpc>
            </a:pP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Ş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 ET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TEMELLER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: HUKUK VE DEĞER</a:t>
            </a:r>
            <a:r>
              <a:rPr lang="en-US" sz="6875" u="none" strike="noStrike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LER​</a:t>
            </a:r>
          </a:p>
        </p:txBody>
      </p:sp>
      <p:sp>
        <p:nvSpPr>
          <p:cNvPr id="3" name="Freeform 3"/>
          <p:cNvSpPr/>
          <p:nvPr/>
        </p:nvSpPr>
        <p:spPr>
          <a:xfrm rot="5400000">
            <a:off x="-273485" y="227752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9" y="0"/>
                </a:lnTo>
                <a:lnTo>
                  <a:pt x="933089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5656738" y="3112294"/>
            <a:ext cx="9511324" cy="5971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girişimin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yapısı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iki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sağlam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sütun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üzerine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inşa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edilir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:​</a:t>
            </a: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Ahlaki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Değerler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Toplumun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kültürel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manevi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vicdani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birikimi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Hukuk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Normları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Yasalar,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yönetmelikler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devletin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belirlediği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ticari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çerçeve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Sentez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Hukukun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yetişemediği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gri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alanlarda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ahlaki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değerler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devreye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girerek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girişimciye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yol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gösterir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.​</a:t>
            </a:r>
          </a:p>
          <a:p>
            <a:pPr marL="0" lvl="1" indent="0" algn="l">
              <a:lnSpc>
                <a:spcPts val="3878"/>
              </a:lnSpc>
              <a:spcBef>
                <a:spcPct val="0"/>
              </a:spcBef>
            </a:pPr>
            <a:endParaRPr lang="en-US" sz="3231" spc="-193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16/24</a:t>
            </a:r>
          </a:p>
        </p:txBody>
      </p:sp>
      <p:sp>
        <p:nvSpPr>
          <p:cNvPr id="7" name="Freeform 7"/>
          <p:cNvSpPr/>
          <p:nvPr/>
        </p:nvSpPr>
        <p:spPr>
          <a:xfrm rot="5400000">
            <a:off x="4507983" y="5388638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8" name="Freeform 8"/>
          <p:cNvSpPr/>
          <p:nvPr/>
        </p:nvSpPr>
        <p:spPr>
          <a:xfrm rot="5400000">
            <a:off x="4507983" y="3994745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Freeform 9"/>
          <p:cNvSpPr/>
          <p:nvPr/>
        </p:nvSpPr>
        <p:spPr>
          <a:xfrm rot="5400000">
            <a:off x="4498458" y="6866738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0" name="Freeform 10"/>
          <p:cNvSpPr/>
          <p:nvPr/>
        </p:nvSpPr>
        <p:spPr>
          <a:xfrm rot="5400000">
            <a:off x="4507983" y="2498663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57622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17/27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133601" y="1364406"/>
            <a:ext cx="14215390" cy="22446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563"/>
              </a:lnSpc>
            </a:pP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Ş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 ET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TEMELLER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: HUKUK VE</a:t>
            </a:r>
            <a:r>
              <a:rPr lang="tr-TR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</a:t>
            </a:r>
            <a:r>
              <a:rPr lang="en-US" sz="6875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DEĞERLER </a:t>
            </a:r>
            <a:r>
              <a:rPr lang="en-US" sz="6875" u="none" strike="noStrike" spc="-206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​</a:t>
            </a:r>
          </a:p>
          <a:p>
            <a:pPr marL="0" lvl="0" indent="0" algn="l">
              <a:lnSpc>
                <a:spcPts val="10804"/>
              </a:lnSpc>
            </a:pPr>
            <a:endParaRPr lang="en-US" sz="6875" u="none" strike="noStrike" spc="-206" dirty="0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8" name="Freeform 8"/>
          <p:cNvSpPr/>
          <p:nvPr/>
        </p:nvSpPr>
        <p:spPr>
          <a:xfrm rot="5400000">
            <a:off x="-273485" y="227752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9" y="0"/>
                </a:lnTo>
                <a:lnTo>
                  <a:pt x="933089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TextBox 9"/>
          <p:cNvSpPr txBox="1"/>
          <p:nvPr/>
        </p:nvSpPr>
        <p:spPr>
          <a:xfrm>
            <a:off x="5474127" y="2714739"/>
            <a:ext cx="10874863" cy="6471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8"/>
              </a:lnSpc>
            </a:pPr>
            <a:endParaRPr sz="2000" dirty="0"/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Güvenilirlikİlkesi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Öngörülebilirlik</a:t>
            </a: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Öngörülebilirlik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Paydaşların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kriz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anlarında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veya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normal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süreçlerde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nasıl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davranacağını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kestirebilmesidir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İnovasyon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600" b="1" spc="-193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İlişkisi</a:t>
            </a:r>
            <a:r>
              <a:rPr lang="en-US" sz="3600" b="1" spc="-193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Öngörülebilir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olmak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statik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olmak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değildir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;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yenilik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yaparken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de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güven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zeminini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korumalıdır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878"/>
              </a:lnSpc>
            </a:pPr>
            <a:endParaRPr lang="en-US" sz="3600" spc="-193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97736" lvl="1" indent="-348868" algn="l">
              <a:lnSpc>
                <a:spcPts val="3878"/>
              </a:lnSpc>
              <a:buFont typeface="Arial"/>
              <a:buChar char="•"/>
            </a:pP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Güvenilir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belirsizliği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azaltarak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iş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ortakları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için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riskleri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minimize </a:t>
            </a:r>
            <a:r>
              <a:rPr lang="en-US" sz="3600" spc="-193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eder</a:t>
            </a:r>
            <a:r>
              <a:rPr lang="en-US" sz="3600" spc="-193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878"/>
              </a:lnSpc>
            </a:pPr>
            <a:endParaRPr lang="en-US" sz="3231" spc="-193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marL="0" lvl="1" indent="0" algn="l">
              <a:lnSpc>
                <a:spcPts val="3878"/>
              </a:lnSpc>
              <a:spcBef>
                <a:spcPct val="0"/>
              </a:spcBef>
            </a:pPr>
            <a:endParaRPr lang="en-US" sz="3231" spc="-193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1" name="Freeform 11"/>
          <p:cNvSpPr/>
          <p:nvPr/>
        </p:nvSpPr>
        <p:spPr>
          <a:xfrm rot="5400000">
            <a:off x="4325372" y="3620000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2" name="Freeform 12"/>
          <p:cNvSpPr/>
          <p:nvPr/>
        </p:nvSpPr>
        <p:spPr>
          <a:xfrm rot="5400000">
            <a:off x="4310814" y="2526463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5"/>
                </a:lnTo>
                <a:lnTo>
                  <a:pt x="0" y="1762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3" name="Freeform 13"/>
          <p:cNvSpPr/>
          <p:nvPr/>
        </p:nvSpPr>
        <p:spPr>
          <a:xfrm rot="5400000">
            <a:off x="4296255" y="5005894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5"/>
                </a:lnTo>
                <a:lnTo>
                  <a:pt x="0" y="17623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14" name="Freeform 14"/>
          <p:cNvSpPr/>
          <p:nvPr/>
        </p:nvSpPr>
        <p:spPr>
          <a:xfrm rot="5400000">
            <a:off x="4325372" y="6521921"/>
            <a:ext cx="535124" cy="1762386"/>
          </a:xfrm>
          <a:custGeom>
            <a:avLst/>
            <a:gdLst/>
            <a:ahLst/>
            <a:cxnLst/>
            <a:rect l="l" t="t" r="r" b="b"/>
            <a:pathLst>
              <a:path w="535124" h="1762386">
                <a:moveTo>
                  <a:pt x="0" y="0"/>
                </a:moveTo>
                <a:lnTo>
                  <a:pt x="535124" y="0"/>
                </a:lnTo>
                <a:lnTo>
                  <a:pt x="535124" y="1762386"/>
                </a:lnTo>
                <a:lnTo>
                  <a:pt x="0" y="1762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903140" y="1320077"/>
            <a:ext cx="6290624" cy="7337128"/>
            <a:chOff x="0" y="0"/>
            <a:chExt cx="974582" cy="1136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74582" cy="1136713"/>
            </a:xfrm>
            <a:custGeom>
              <a:avLst/>
              <a:gdLst/>
              <a:ahLst/>
              <a:cxnLst/>
              <a:rect l="l" t="t" r="r" b="b"/>
              <a:pathLst>
                <a:path w="974582" h="1136713">
                  <a:moveTo>
                    <a:pt x="0" y="0"/>
                  </a:moveTo>
                  <a:lnTo>
                    <a:pt x="974582" y="0"/>
                  </a:lnTo>
                  <a:lnTo>
                    <a:pt x="974582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11399" t="-4253" r="-10045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6812763" y="7213132"/>
            <a:ext cx="1475237" cy="1214840"/>
            <a:chOff x="0" y="0"/>
            <a:chExt cx="388540" cy="31995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540" cy="319958"/>
            </a:xfrm>
            <a:custGeom>
              <a:avLst/>
              <a:gdLst/>
              <a:ahLst/>
              <a:cxnLst/>
              <a:rect l="l" t="t" r="r" b="b"/>
              <a:pathLst>
                <a:path w="388540" h="319958">
                  <a:moveTo>
                    <a:pt x="0" y="0"/>
                  </a:moveTo>
                  <a:lnTo>
                    <a:pt x="388540" y="0"/>
                  </a:lnTo>
                  <a:lnTo>
                    <a:pt x="388540" y="319958"/>
                  </a:lnTo>
                  <a:lnTo>
                    <a:pt x="0" y="319958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88540" cy="348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0" y="926306"/>
            <a:ext cx="10683855" cy="200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33022" lvl="1" indent="-766511" algn="l">
              <a:lnSpc>
                <a:spcPts val="7810"/>
              </a:lnSpc>
              <a:buFont typeface="Arial"/>
              <a:buChar char="•"/>
            </a:pP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Ş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 ET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TEMELLER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: HUKUK VE DEĞERLER​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872" y="3107214"/>
            <a:ext cx="10020983" cy="6386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Dürüstlük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İlkesi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Doğruluktan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Ayrılmama</a:t>
            </a: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Yalandan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Uzak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Durmak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Girişimcinin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finansal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gücü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veya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pazar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payı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ne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olursa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olsun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yanıltıcı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beyanlardan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kaçınmasıdır</a:t>
            </a: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Haksız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Rekabet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Başka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markanın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emeğini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çalmak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taklit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ambalaj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kullanmak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veya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rakibi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karalamak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dürüstlük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ilkesine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taban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tabana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zıttır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  <a:endParaRPr lang="tr-TR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323850" lvl="1"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Uzun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Vadeli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Kazanç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Dürüstlük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kısa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vadede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fırsat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kaybı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gibi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görünse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de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uzun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vadede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itibar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kârı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sağlar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639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028700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18/24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475237" y="1474936"/>
            <a:ext cx="5763080" cy="7337128"/>
            <a:chOff x="0" y="0"/>
            <a:chExt cx="892852" cy="113671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92852" cy="1136713"/>
            </a:xfrm>
            <a:custGeom>
              <a:avLst/>
              <a:gdLst/>
              <a:ahLst/>
              <a:cxnLst/>
              <a:rect l="l" t="t" r="r" b="b"/>
              <a:pathLst>
                <a:path w="892852" h="1136713">
                  <a:moveTo>
                    <a:pt x="0" y="0"/>
                  </a:moveTo>
                  <a:lnTo>
                    <a:pt x="892852" y="0"/>
                  </a:lnTo>
                  <a:lnTo>
                    <a:pt x="892852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13656" r="-13656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2988143"/>
            <a:ext cx="1475237" cy="4310714"/>
            <a:chOff x="0" y="0"/>
            <a:chExt cx="388540" cy="1135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88540" cy="1135332"/>
            </a:xfrm>
            <a:custGeom>
              <a:avLst/>
              <a:gdLst/>
              <a:ahLst/>
              <a:cxnLst/>
              <a:rect l="l" t="t" r="r" b="b"/>
              <a:pathLst>
                <a:path w="388540" h="1135332">
                  <a:moveTo>
                    <a:pt x="0" y="0"/>
                  </a:moveTo>
                  <a:lnTo>
                    <a:pt x="388540" y="0"/>
                  </a:lnTo>
                  <a:lnTo>
                    <a:pt x="388540" y="1135332"/>
                  </a:lnTo>
                  <a:lnTo>
                    <a:pt x="0" y="1135332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388540" cy="11639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48000" y="536020"/>
            <a:ext cx="2536443" cy="517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773"/>
              </a:lnSpc>
            </a:pPr>
            <a:r>
              <a:rPr lang="en-US" sz="33978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”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8189" y="3262090"/>
            <a:ext cx="10020983" cy="6924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Adil Olma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İlkesi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Hakkaniyet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Liyakat</a:t>
            </a: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4200"/>
              </a:lnSpc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Adalet vs.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Eşitlik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Herkese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aynı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şeyi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vermek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değil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her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paydaşa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çalışan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tedarikçi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müşteri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ettiği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karşılığı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vermektir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Zamanında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Ödeme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Çalışanın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alın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teri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kurumadan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maaşını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tedarikçinin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emeği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karşılığını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zamanında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ödemek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bu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ilkenin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temelidir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200" spc="-179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  <a:p>
            <a:pPr marL="647700" lvl="1" indent="-323850" algn="l">
              <a:lnSpc>
                <a:spcPts val="4200"/>
              </a:lnSpc>
              <a:buFont typeface="Arial"/>
              <a:buChar char="•"/>
            </a:pP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Fırsat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spc="-179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Eşitliği</a:t>
            </a:r>
            <a:r>
              <a:rPr lang="en-US" sz="3200" b="1" spc="-179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İşe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alım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terfi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süreçlerinde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kişisel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yakınlık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yerine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yetkinliği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baz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spc="-179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almak</a:t>
            </a:r>
            <a:r>
              <a:rPr lang="en-US" sz="3200" spc="-179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4200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  <a:p>
            <a:pPr algn="l">
              <a:lnSpc>
                <a:spcPts val="3639"/>
              </a:lnSpc>
            </a:pPr>
            <a:endParaRPr lang="en-US" sz="3000" spc="-179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19/24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7114492" y="983440"/>
            <a:ext cx="10683855" cy="20047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533022" lvl="1" indent="-766511" algn="l">
              <a:lnSpc>
                <a:spcPts val="7810"/>
              </a:lnSpc>
              <a:buFont typeface="Arial"/>
              <a:buChar char="•"/>
            </a:pP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G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Ş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 ET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 TEMELLER</a:t>
            </a:r>
            <a:r>
              <a:rPr lang="tr-TR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</a:t>
            </a:r>
            <a:r>
              <a:rPr lang="en-US" sz="7100" spc="-213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: HUKUK VE DEĞERLER​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38225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7344" y="4447284"/>
            <a:ext cx="1475237" cy="4159356"/>
            <a:chOff x="0" y="0"/>
            <a:chExt cx="388540" cy="88934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8540" cy="889347"/>
            </a:xfrm>
            <a:custGeom>
              <a:avLst/>
              <a:gdLst/>
              <a:ahLst/>
              <a:cxnLst/>
              <a:rect l="l" t="t" r="r" b="b"/>
              <a:pathLst>
                <a:path w="388540" h="889347">
                  <a:moveTo>
                    <a:pt x="0" y="0"/>
                  </a:moveTo>
                  <a:lnTo>
                    <a:pt x="388540" y="0"/>
                  </a:lnTo>
                  <a:lnTo>
                    <a:pt x="388540" y="889347"/>
                  </a:lnTo>
                  <a:lnTo>
                    <a:pt x="0" y="889347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388540" cy="9179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969106" y="3932339"/>
            <a:ext cx="6365928" cy="6354661"/>
          </a:xfrm>
          <a:custGeom>
            <a:avLst/>
            <a:gdLst/>
            <a:ahLst/>
            <a:cxnLst/>
            <a:rect l="l" t="t" r="r" b="b"/>
            <a:pathLst>
              <a:path w="6365928" h="6354661">
                <a:moveTo>
                  <a:pt x="0" y="0"/>
                </a:moveTo>
                <a:lnTo>
                  <a:pt x="6365928" y="0"/>
                </a:lnTo>
                <a:lnTo>
                  <a:pt x="6365928" y="6354661"/>
                </a:lnTo>
                <a:lnTo>
                  <a:pt x="0" y="63546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9" name="TextBox 9"/>
          <p:cNvSpPr txBox="1"/>
          <p:nvPr/>
        </p:nvSpPr>
        <p:spPr>
          <a:xfrm>
            <a:off x="1028700" y="1680361"/>
            <a:ext cx="16230600" cy="2105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BÖLÜM 4: ETİK YÖNETİM VE LİDERLİK</a:t>
            </a:r>
          </a:p>
          <a:p>
            <a:pPr marL="0" lvl="0" indent="0" algn="l">
              <a:lnSpc>
                <a:spcPts val="83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ETIK</a:t>
            </a:r>
            <a:r>
              <a:rPr lang="en-US" sz="6999" u="none" strike="noStrike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 LIDERLIK: DAVRANIŞLARIN GÜCÜ YÖNTEM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6222430"/>
            <a:ext cx="1475237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</a:pPr>
            <a:r>
              <a:rPr lang="en-US" sz="9999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?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705293" y="4447283"/>
            <a:ext cx="8867989" cy="1996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r>
              <a:rPr lang="en-US" sz="3200" b="1" u="none" strike="noStrike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Sosyal</a:t>
            </a:r>
            <a:r>
              <a:rPr lang="en-US" sz="3200" b="1" u="none" strike="noStrike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</a:t>
            </a:r>
            <a:r>
              <a:rPr lang="en-US" sz="3200" b="1" u="none" strike="noStrike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Bulaşma</a:t>
            </a:r>
            <a:r>
              <a:rPr lang="en-US" sz="3200" b="1" u="none" strike="noStrike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algn="l">
              <a:lnSpc>
                <a:spcPts val="3119"/>
              </a:lnSpc>
            </a:pPr>
            <a:r>
              <a:rPr lang="en-US" sz="3200" b="1" u="none" strike="noStrike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İ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şletmedeki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dışı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küçük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davranış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örn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vergi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kaçırma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veya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yalan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söyleme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),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çalışanlar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arasında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hızla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yayılır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normalleşir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l">
              <a:lnSpc>
                <a:spcPts val="3119"/>
              </a:lnSpc>
              <a:spcBef>
                <a:spcPct val="0"/>
              </a:spcBef>
            </a:pPr>
            <a:endParaRPr lang="en-US" sz="3200" u="none" strike="noStrike" spc="-155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2647586" y="6264656"/>
            <a:ext cx="9177870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00" b="1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Rol</a:t>
            </a:r>
            <a:r>
              <a:rPr lang="en-US" sz="3200" b="1" u="none" strike="noStrike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Model </a:t>
            </a:r>
            <a:r>
              <a:rPr lang="en-US" sz="3200" b="1" u="none" strike="noStrike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Olarak</a:t>
            </a:r>
            <a:r>
              <a:rPr lang="en-US" sz="3200" b="1" u="none" strike="noStrike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 Lider:</a:t>
            </a:r>
          </a:p>
          <a:p>
            <a:pPr algn="l">
              <a:lnSpc>
                <a:spcPts val="3119"/>
              </a:lnSpc>
            </a:pP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Lider,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yazdığı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kurallardan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çok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sergilediği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tutumlarla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hatırlanır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3119"/>
              </a:lnSpc>
            </a:pPr>
            <a:endParaRPr lang="en-US" sz="3200" u="none" strike="noStrike" spc="-155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3997852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18/24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2647586" y="7375905"/>
            <a:ext cx="9177870" cy="1192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19"/>
              </a:lnSpc>
            </a:pPr>
            <a:r>
              <a:rPr lang="en-US" sz="3200" b="1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Ş</a:t>
            </a:r>
            <a:r>
              <a:rPr lang="en-US" sz="3200" b="1" u="none" strike="noStrike" spc="-155" dirty="0" err="1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effaflık</a:t>
            </a:r>
            <a:r>
              <a:rPr lang="en-US" sz="3200" b="1" u="none" strike="noStrike" spc="-155" dirty="0">
                <a:solidFill>
                  <a:srgbClr val="000000"/>
                </a:solidFill>
                <a:ea typeface="Open Sauce Bold"/>
                <a:cs typeface="Open Sauce Bold"/>
                <a:sym typeface="Open Sauce Bold"/>
              </a:rPr>
              <a:t>:</a:t>
            </a:r>
          </a:p>
          <a:p>
            <a:pPr algn="l">
              <a:lnSpc>
                <a:spcPts val="3119"/>
              </a:lnSpc>
            </a:pP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Hataları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kabul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edebilme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alma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cesareti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etik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liderliğin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3200" u="none" strike="noStrike" spc="-155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temelidir</a:t>
            </a:r>
            <a:r>
              <a:rPr lang="en-US" sz="3200" u="none" strike="noStrike" spc="-155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38225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66086"/>
            <a:ext cx="6509516" cy="559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999"/>
              </a:lnSpc>
            </a:pPr>
            <a:r>
              <a:rPr lang="en-US" sz="9999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  <a:r>
              <a:rPr lang="en-US" sz="9999" u="none" strike="noStrike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TIK LIDERLIKTE VAKA </a:t>
            </a:r>
          </a:p>
          <a:p>
            <a:pPr marL="0" lvl="0" indent="0" algn="l">
              <a:lnSpc>
                <a:spcPts val="10999"/>
              </a:lnSpc>
            </a:pPr>
            <a:r>
              <a:rPr lang="en-US" sz="9999" u="none" strike="noStrike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ÖRNEĞI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140231" y="1474936"/>
            <a:ext cx="7076265" cy="7337128"/>
            <a:chOff x="0" y="0"/>
            <a:chExt cx="1096299" cy="113671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96299" cy="1136713"/>
            </a:xfrm>
            <a:custGeom>
              <a:avLst/>
              <a:gdLst/>
              <a:ahLst/>
              <a:cxnLst/>
              <a:rect l="l" t="t" r="r" b="b"/>
              <a:pathLst>
                <a:path w="1096299" h="1136713">
                  <a:moveTo>
                    <a:pt x="0" y="0"/>
                  </a:moveTo>
                  <a:lnTo>
                    <a:pt x="1096299" y="0"/>
                  </a:lnTo>
                  <a:lnTo>
                    <a:pt x="1096299" y="1136713"/>
                  </a:lnTo>
                  <a:lnTo>
                    <a:pt x="0" y="1136713"/>
                  </a:lnTo>
                  <a:close/>
                </a:path>
              </a:pathLst>
            </a:custGeom>
            <a:blipFill>
              <a:blip r:embed="rId2"/>
              <a:stretch>
                <a:fillRect l="-3686"/>
              </a:stretch>
            </a:blipFill>
          </p:spPr>
          <p:txBody>
            <a:bodyPr/>
            <a:lstStyle/>
            <a:p>
              <a:endParaRPr lang="tr-TR"/>
            </a:p>
          </p:txBody>
        </p:sp>
      </p:grpSp>
      <p:sp>
        <p:nvSpPr>
          <p:cNvPr id="5" name="Freeform 5"/>
          <p:cNvSpPr/>
          <p:nvPr/>
        </p:nvSpPr>
        <p:spPr>
          <a:xfrm rot="5400000">
            <a:off x="2098679" y="6573166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8" y="0"/>
                </a:lnTo>
                <a:lnTo>
                  <a:pt x="933088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6" name="TextBox 6"/>
          <p:cNvSpPr txBox="1"/>
          <p:nvPr/>
        </p:nvSpPr>
        <p:spPr>
          <a:xfrm>
            <a:off x="13182750" y="9186704"/>
            <a:ext cx="3261448" cy="488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21/24</a:t>
            </a:r>
          </a:p>
          <a:p>
            <a:pPr algn="r">
              <a:lnSpc>
                <a:spcPts val="1960"/>
              </a:lnSpc>
              <a:spcBef>
                <a:spcPct val="0"/>
              </a:spcBef>
            </a:pPr>
            <a:endParaRPr lang="en-US" sz="1400" spc="-7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1895510" y="3643315"/>
            <a:ext cx="6392490" cy="2488787"/>
            <a:chOff x="0" y="0"/>
            <a:chExt cx="1683619" cy="65548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683619" cy="655483"/>
            </a:xfrm>
            <a:custGeom>
              <a:avLst/>
              <a:gdLst/>
              <a:ahLst/>
              <a:cxnLst/>
              <a:rect l="l" t="t" r="r" b="b"/>
              <a:pathLst>
                <a:path w="1683619" h="655483">
                  <a:moveTo>
                    <a:pt x="0" y="0"/>
                  </a:moveTo>
                  <a:lnTo>
                    <a:pt x="1683619" y="0"/>
                  </a:lnTo>
                  <a:lnTo>
                    <a:pt x="1683619" y="655483"/>
                  </a:lnTo>
                  <a:lnTo>
                    <a:pt x="0" y="655483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28575"/>
              <a:ext cx="1683619" cy="6840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1895510" y="1071721"/>
            <a:ext cx="6392490" cy="2512242"/>
            <a:chOff x="0" y="0"/>
            <a:chExt cx="8523319" cy="334965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8523319" cy="3349656"/>
              <a:chOff x="0" y="0"/>
              <a:chExt cx="1683619" cy="66166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683619" cy="661660"/>
              </a:xfrm>
              <a:custGeom>
                <a:avLst/>
                <a:gdLst/>
                <a:ahLst/>
                <a:cxnLst/>
                <a:rect l="l" t="t" r="r" b="b"/>
                <a:pathLst>
                  <a:path w="1683619" h="661660">
                    <a:moveTo>
                      <a:pt x="0" y="0"/>
                    </a:moveTo>
                    <a:lnTo>
                      <a:pt x="1683619" y="0"/>
                    </a:lnTo>
                    <a:lnTo>
                      <a:pt x="1683619" y="661660"/>
                    </a:lnTo>
                    <a:lnTo>
                      <a:pt x="0" y="66166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0" y="-28575"/>
                <a:ext cx="1683619" cy="69023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14" name="TextBox 14"/>
            <p:cNvSpPr txBox="1"/>
            <p:nvPr/>
          </p:nvSpPr>
          <p:spPr>
            <a:xfrm>
              <a:off x="947923" y="573103"/>
              <a:ext cx="7575396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 dirty="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OLAY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7923" y="1319228"/>
              <a:ext cx="7575396" cy="200396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3200" u="none" strike="noStrike" spc="-144" dirty="0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•Facebook (Meta) </a:t>
              </a:r>
              <a:r>
                <a:rPr lang="en-US" sz="3200" u="none" strike="noStrike" spc="-144" dirty="0" err="1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veri</a:t>
              </a:r>
              <a:r>
                <a:rPr lang="en-US" sz="3200" u="none" strike="noStrike" spc="-144" dirty="0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3200" u="none" strike="noStrike" spc="-144" dirty="0" err="1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gizliliği</a:t>
              </a:r>
              <a:r>
                <a:rPr lang="en-US" sz="3200" u="none" strike="noStrike" spc="-144" dirty="0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3200" u="none" strike="noStrike" spc="-144" dirty="0" err="1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skandalı</a:t>
              </a:r>
              <a:r>
                <a:rPr lang="en-US" sz="3200" u="none" strike="noStrike" spc="-144" dirty="0">
                  <a:solidFill>
                    <a:srgbClr val="000000"/>
                  </a:solidFill>
                  <a:ea typeface="Open Sauce"/>
                  <a:cs typeface="Open Sauce"/>
                  <a:sym typeface="Open Sauce"/>
                </a:rPr>
                <a:t>.</a:t>
              </a:r>
            </a:p>
            <a:p>
              <a:pPr algn="l">
                <a:lnSpc>
                  <a:spcPts val="2879"/>
                </a:lnSpc>
              </a:pPr>
              <a:endParaRPr lang="en-US" sz="32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endParaRPr>
            </a:p>
            <a:p>
              <a:pPr algn="l">
                <a:lnSpc>
                  <a:spcPts val="2879"/>
                </a:lnSpc>
              </a:pPr>
              <a:endParaRPr lang="en-US" sz="32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01394" y="3940572"/>
            <a:ext cx="404280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sz="3000" u="none" strike="noStrike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RISKLER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01394" y="4506111"/>
            <a:ext cx="5605144" cy="1489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800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•</a:t>
            </a:r>
            <a:r>
              <a:rPr lang="en-US" sz="2800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L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iderlik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Refleksi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: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Zuckerberg'in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senato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önünde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ifade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vermesi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kamuoyuna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açıkça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"Hata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yaptık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sorumluluk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benim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"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demesi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algn="l">
              <a:lnSpc>
                <a:spcPts val="2879"/>
              </a:lnSpc>
            </a:pPr>
            <a:endParaRPr lang="en-US" sz="2800" u="none" strike="noStrike" spc="-144" dirty="0">
              <a:solidFill>
                <a:srgbClr val="000000"/>
              </a:solidFill>
              <a:ea typeface="Open Sauce"/>
              <a:cs typeface="Open Sauce"/>
              <a:sym typeface="Open Sauce"/>
            </a:endParaRPr>
          </a:p>
        </p:txBody>
      </p:sp>
      <p:grpSp>
        <p:nvGrpSpPr>
          <p:cNvPr id="18" name="Group 18"/>
          <p:cNvGrpSpPr/>
          <p:nvPr/>
        </p:nvGrpSpPr>
        <p:grpSpPr>
          <a:xfrm>
            <a:off x="11889414" y="6191227"/>
            <a:ext cx="6398586" cy="2874192"/>
            <a:chOff x="0" y="0"/>
            <a:chExt cx="8531448" cy="3832256"/>
          </a:xfrm>
        </p:grpSpPr>
        <p:grpSp>
          <p:nvGrpSpPr>
            <p:cNvPr id="19" name="Group 19"/>
            <p:cNvGrpSpPr/>
            <p:nvPr/>
          </p:nvGrpSpPr>
          <p:grpSpPr>
            <a:xfrm>
              <a:off x="0" y="0"/>
              <a:ext cx="8531448" cy="3832256"/>
              <a:chOff x="0" y="0"/>
              <a:chExt cx="1685224" cy="75698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0" y="0"/>
                <a:ext cx="1685224" cy="756989"/>
              </a:xfrm>
              <a:custGeom>
                <a:avLst/>
                <a:gdLst/>
                <a:ahLst/>
                <a:cxnLst/>
                <a:rect l="l" t="t" r="r" b="b"/>
                <a:pathLst>
                  <a:path w="1685224" h="756989">
                    <a:moveTo>
                      <a:pt x="0" y="0"/>
                    </a:moveTo>
                    <a:lnTo>
                      <a:pt x="1685224" y="0"/>
                    </a:lnTo>
                    <a:lnTo>
                      <a:pt x="1685224" y="756989"/>
                    </a:lnTo>
                    <a:lnTo>
                      <a:pt x="0" y="756989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0" y="-28575"/>
                <a:ext cx="1685224" cy="78556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/>
              </a:p>
            </p:txBody>
          </p:sp>
        </p:grpSp>
        <p:sp>
          <p:nvSpPr>
            <p:cNvPr id="22" name="TextBox 22"/>
            <p:cNvSpPr txBox="1"/>
            <p:nvPr/>
          </p:nvSpPr>
          <p:spPr>
            <a:xfrm>
              <a:off x="772980" y="573103"/>
              <a:ext cx="6177321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1" indent="0" algn="l">
                <a:lnSpc>
                  <a:spcPts val="3600"/>
                </a:lnSpc>
                <a:spcBef>
                  <a:spcPct val="0"/>
                </a:spcBef>
              </a:pPr>
              <a:r>
                <a:rPr lang="en-US" sz="3000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DE</a:t>
              </a:r>
              <a:r>
                <a:rPr lang="en-US" sz="3000" u="none" strike="noStrike">
                  <a:solidFill>
                    <a:srgbClr val="000000"/>
                  </a:solidFill>
                  <a:latin typeface="Anton"/>
                  <a:ea typeface="Anton"/>
                  <a:cs typeface="Anton"/>
                  <a:sym typeface="Anton"/>
                </a:rPr>
                <a:t>RS: 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72980" y="1319228"/>
              <a:ext cx="7479443" cy="14899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879"/>
                </a:lnSpc>
              </a:pP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Kriz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anlarında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dürüstçe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sorumluluk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almak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,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markayı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tamamen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yok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olmaktan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kurtaran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etik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bir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 </a:t>
              </a:r>
              <a:r>
                <a:rPr lang="en-US" sz="2800" u="none" strike="noStrike" spc="-144" dirty="0" err="1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hamledir</a:t>
              </a:r>
              <a:r>
                <a:rPr lang="en-US" sz="2800" u="none" strike="noStrike" spc="-144" dirty="0">
                  <a:solidFill>
                    <a:srgbClr val="000000"/>
                  </a:solidFill>
                  <a:latin typeface="+mj-lt"/>
                  <a:ea typeface="Open Sauce"/>
                  <a:cs typeface="Open Sauce"/>
                  <a:sym typeface="Open Sauce"/>
                </a:rPr>
                <a:t>. 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4423248" y="7700295"/>
            <a:ext cx="7142316" cy="876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764"/>
              </a:lnSpc>
              <a:spcBef>
                <a:spcPct val="0"/>
              </a:spcBef>
            </a:pPr>
            <a:r>
              <a:rPr lang="en-US" sz="6149" u="none" strike="noStrike" spc="-184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MARK ZUCKERBERG ÖRNEĞI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38225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760754" y="0"/>
            <a:ext cx="5527246" cy="10287000"/>
            <a:chOff x="0" y="0"/>
            <a:chExt cx="1455736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55736" cy="2709333"/>
            </a:xfrm>
            <a:custGeom>
              <a:avLst/>
              <a:gdLst/>
              <a:ahLst/>
              <a:cxnLst/>
              <a:rect l="l" t="t" r="r" b="b"/>
              <a:pathLst>
                <a:path w="1455736" h="2709333">
                  <a:moveTo>
                    <a:pt x="0" y="0"/>
                  </a:moveTo>
                  <a:lnTo>
                    <a:pt x="1455736" y="0"/>
                  </a:lnTo>
                  <a:lnTo>
                    <a:pt x="145573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8F8F8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455736" cy="27379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5298901"/>
            <a:ext cx="5221179" cy="3595983"/>
            <a:chOff x="0" y="0"/>
            <a:chExt cx="1375125" cy="94709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375125" cy="947090"/>
            </a:xfrm>
            <a:custGeom>
              <a:avLst/>
              <a:gdLst/>
              <a:ahLst/>
              <a:cxnLst/>
              <a:rect l="l" t="t" r="r" b="b"/>
              <a:pathLst>
                <a:path w="1375125" h="947090">
                  <a:moveTo>
                    <a:pt x="0" y="0"/>
                  </a:moveTo>
                  <a:lnTo>
                    <a:pt x="1375125" y="0"/>
                  </a:lnTo>
                  <a:lnTo>
                    <a:pt x="1375125" y="947090"/>
                  </a:lnTo>
                  <a:lnTo>
                    <a:pt x="0" y="947090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1375125" cy="97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531590" y="5298901"/>
            <a:ext cx="5221179" cy="3595983"/>
            <a:chOff x="0" y="0"/>
            <a:chExt cx="1375125" cy="94709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75125" cy="947090"/>
            </a:xfrm>
            <a:custGeom>
              <a:avLst/>
              <a:gdLst/>
              <a:ahLst/>
              <a:cxnLst/>
              <a:rect l="l" t="t" r="r" b="b"/>
              <a:pathLst>
                <a:path w="1375125" h="947090">
                  <a:moveTo>
                    <a:pt x="0" y="0"/>
                  </a:moveTo>
                  <a:lnTo>
                    <a:pt x="1375125" y="0"/>
                  </a:lnTo>
                  <a:lnTo>
                    <a:pt x="1375125" y="947090"/>
                  </a:lnTo>
                  <a:lnTo>
                    <a:pt x="0" y="947090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1375125" cy="97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38121" y="5298901"/>
            <a:ext cx="5221179" cy="3595983"/>
            <a:chOff x="0" y="0"/>
            <a:chExt cx="1375125" cy="94709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75125" cy="947090"/>
            </a:xfrm>
            <a:custGeom>
              <a:avLst/>
              <a:gdLst/>
              <a:ahLst/>
              <a:cxnLst/>
              <a:rect l="l" t="t" r="r" b="b"/>
              <a:pathLst>
                <a:path w="1375125" h="947090">
                  <a:moveTo>
                    <a:pt x="0" y="0"/>
                  </a:moveTo>
                  <a:lnTo>
                    <a:pt x="1375125" y="0"/>
                  </a:lnTo>
                  <a:lnTo>
                    <a:pt x="1375125" y="947090"/>
                  </a:lnTo>
                  <a:lnTo>
                    <a:pt x="0" y="947090"/>
                  </a:lnTo>
                  <a:close/>
                </a:path>
              </a:pathLst>
            </a:custGeom>
            <a:solidFill>
              <a:srgbClr val="FFFAB5"/>
            </a:solidFill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28575"/>
              <a:ext cx="1375125" cy="9756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478372" y="1861336"/>
            <a:ext cx="8505510" cy="3863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999"/>
              </a:lnSpc>
            </a:pPr>
            <a:r>
              <a:rPr lang="en-US" sz="9999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ETIK ÖĞRENME VE ETIK REHBER</a:t>
            </a:r>
          </a:p>
          <a:p>
            <a:pPr marL="0" lvl="0" indent="0" algn="l">
              <a:lnSpc>
                <a:spcPts val="9999"/>
              </a:lnSpc>
            </a:pPr>
            <a:endParaRPr lang="en-US" sz="9999" spc="-299">
              <a:solidFill>
                <a:srgbClr val="000000"/>
              </a:solidFill>
              <a:latin typeface="Anton"/>
              <a:ea typeface="Anton"/>
              <a:cs typeface="Anton"/>
              <a:sym typeface="Anton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32112" y="7224696"/>
            <a:ext cx="4569796" cy="74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800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İ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nsan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hafızası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unutmaya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,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hırsları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ise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kuralları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esnetmeye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meyillidir</a:t>
            </a:r>
            <a:r>
              <a:rPr lang="en-US" sz="2800" u="none" strike="noStrike" spc="-144" dirty="0">
                <a:solidFill>
                  <a:srgbClr val="000000"/>
                </a:solidFill>
                <a:latin typeface="+mj-lt"/>
                <a:ea typeface="Open Sauce"/>
                <a:cs typeface="Open Sauce"/>
                <a:sym typeface="Open Sauce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0135" y="5474856"/>
            <a:ext cx="3613076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NEDE</a:t>
            </a:r>
            <a:r>
              <a:rPr lang="en-US" sz="5000" u="none" strike="noStrike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 REHBER?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784737" y="7096893"/>
            <a:ext cx="4569796" cy="1465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İşletmenin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tüm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iç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dış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ilişkilerinde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(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çalışan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müşteri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,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devlet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)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pusula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görevi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gören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yazılı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dökümandır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u="none" strike="noStrike" spc="-14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6762614" y="5432425"/>
            <a:ext cx="3613076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ETIK </a:t>
            </a:r>
          </a:p>
          <a:p>
            <a:pPr marL="0" lvl="0" indent="0"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REHB</a:t>
            </a:r>
            <a:r>
              <a:rPr lang="en-US" sz="5000" u="none" strike="noStrike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ER: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350817" y="6977864"/>
            <a:ext cx="4569447" cy="1465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800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Karar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verme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süreçlerinde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ikilemleri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ortadan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kaldırır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ve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standart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bir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davranış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biçimi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 </a:t>
            </a:r>
            <a:r>
              <a:rPr lang="en-US" sz="2800" u="none" strike="noStrike" spc="-144" dirty="0" err="1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oluşturur</a:t>
            </a:r>
            <a:r>
              <a:rPr lang="en-US" sz="2800" u="none" strike="noStrike" spc="-144" dirty="0">
                <a:solidFill>
                  <a:srgbClr val="000000"/>
                </a:solidFill>
                <a:ea typeface="Open Sauce"/>
                <a:cs typeface="Open Sauce"/>
                <a:sym typeface="Open Sauce"/>
              </a:rPr>
              <a:t>.</a:t>
            </a:r>
          </a:p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endParaRPr lang="en-US" sz="2400" u="none" strike="noStrike" spc="-144" dirty="0">
              <a:solidFill>
                <a:srgbClr val="000000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2350817" y="5474856"/>
            <a:ext cx="3612800" cy="1416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İŞLEVI</a:t>
            </a:r>
          </a:p>
          <a:p>
            <a:pPr marL="0" lvl="0" indent="0" algn="l">
              <a:lnSpc>
                <a:spcPts val="5500"/>
              </a:lnSpc>
            </a:pPr>
            <a:r>
              <a:rPr lang="en-US" sz="5000" dirty="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NEDIR?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997852" y="9186704"/>
            <a:ext cx="3261448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22/24</a:t>
            </a:r>
          </a:p>
        </p:txBody>
      </p:sp>
      <p:sp>
        <p:nvSpPr>
          <p:cNvPr id="22" name="Freeform 22"/>
          <p:cNvSpPr/>
          <p:nvPr/>
        </p:nvSpPr>
        <p:spPr>
          <a:xfrm rot="5400000">
            <a:off x="2098679" y="784045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8" y="0"/>
                </a:lnTo>
                <a:lnTo>
                  <a:pt x="933088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23" name="TextBox 23"/>
          <p:cNvSpPr txBox="1"/>
          <p:nvPr/>
        </p:nvSpPr>
        <p:spPr>
          <a:xfrm>
            <a:off x="1028700" y="9186704"/>
            <a:ext cx="3261448" cy="240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 spc="-7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BARTIN ÜNIVERSITESI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574074" y="-691626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9" y="0"/>
                </a:lnTo>
                <a:lnTo>
                  <a:pt x="933089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457200" y="1311442"/>
            <a:ext cx="17373600" cy="8861163"/>
          </a:xfrm>
          <a:custGeom>
            <a:avLst/>
            <a:gdLst/>
            <a:ahLst/>
            <a:cxnLst/>
            <a:rect l="l" t="t" r="r" b="b"/>
            <a:pathLst>
              <a:path w="21811806" h="8861163">
                <a:moveTo>
                  <a:pt x="0" y="0"/>
                </a:moveTo>
                <a:lnTo>
                  <a:pt x="21811806" y="0"/>
                </a:lnTo>
                <a:lnTo>
                  <a:pt x="21811806" y="8861162"/>
                </a:lnTo>
                <a:lnTo>
                  <a:pt x="0" y="886116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1844"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6925193" y="455960"/>
            <a:ext cx="6598238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KENDIMIZI SINAYALIM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574074" y="-691626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9" y="0"/>
                </a:lnTo>
                <a:lnTo>
                  <a:pt x="933089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358877" y="1407278"/>
            <a:ext cx="17907000" cy="8890783"/>
          </a:xfrm>
          <a:custGeom>
            <a:avLst/>
            <a:gdLst/>
            <a:ahLst/>
            <a:cxnLst/>
            <a:rect l="l" t="t" r="r" b="b"/>
            <a:pathLst>
              <a:path w="21105716" h="8890783">
                <a:moveTo>
                  <a:pt x="0" y="0"/>
                </a:moveTo>
                <a:lnTo>
                  <a:pt x="21105716" y="0"/>
                </a:lnTo>
                <a:lnTo>
                  <a:pt x="21105716" y="8890783"/>
                </a:lnTo>
                <a:lnTo>
                  <a:pt x="0" y="8890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6925193" y="455960"/>
            <a:ext cx="6598238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KENDIMIZI SINAYALIM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4574074" y="-691626"/>
            <a:ext cx="933089" cy="3073046"/>
          </a:xfrm>
          <a:custGeom>
            <a:avLst/>
            <a:gdLst/>
            <a:ahLst/>
            <a:cxnLst/>
            <a:rect l="l" t="t" r="r" b="b"/>
            <a:pathLst>
              <a:path w="933089" h="3073046">
                <a:moveTo>
                  <a:pt x="0" y="0"/>
                </a:moveTo>
                <a:lnTo>
                  <a:pt x="933089" y="0"/>
                </a:lnTo>
                <a:lnTo>
                  <a:pt x="933089" y="3073046"/>
                </a:lnTo>
                <a:lnTo>
                  <a:pt x="0" y="3073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3" name="Freeform 3"/>
          <p:cNvSpPr/>
          <p:nvPr/>
        </p:nvSpPr>
        <p:spPr>
          <a:xfrm>
            <a:off x="533400" y="2171700"/>
            <a:ext cx="17311958" cy="5410200"/>
          </a:xfrm>
          <a:custGeom>
            <a:avLst/>
            <a:gdLst/>
            <a:ahLst/>
            <a:cxnLst/>
            <a:rect l="l" t="t" r="r" b="b"/>
            <a:pathLst>
              <a:path w="21156244" h="4733710">
                <a:moveTo>
                  <a:pt x="0" y="0"/>
                </a:moveTo>
                <a:lnTo>
                  <a:pt x="21156245" y="0"/>
                </a:lnTo>
                <a:lnTo>
                  <a:pt x="21156245" y="4733710"/>
                </a:lnTo>
                <a:lnTo>
                  <a:pt x="0" y="47337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tr-TR"/>
          </a:p>
        </p:txBody>
      </p:sp>
      <p:sp>
        <p:nvSpPr>
          <p:cNvPr id="4" name="TextBox 4"/>
          <p:cNvSpPr txBox="1"/>
          <p:nvPr/>
        </p:nvSpPr>
        <p:spPr>
          <a:xfrm>
            <a:off x="6925193" y="455960"/>
            <a:ext cx="6598238" cy="920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999"/>
              </a:lnSpc>
            </a:pPr>
            <a:r>
              <a:rPr lang="en-US" sz="6999" spc="-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KENDIMIZI SINAYALIM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0" y="7927976"/>
            <a:ext cx="17845358" cy="13303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999"/>
              </a:lnSpc>
            </a:pPr>
            <a:r>
              <a:rPr lang="en-US" sz="9999" spc="-29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DINLEDIĞINIZ IÇIN TEŞEKKÜRLER...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1E618EB03831F24AB3BEF4BC9FF95ECA" ma:contentTypeVersion="11" ma:contentTypeDescription="Yeni belge oluşturun." ma:contentTypeScope="" ma:versionID="0084c31980a996195921eadd7928597b">
  <xsd:schema xmlns:xsd="http://www.w3.org/2001/XMLSchema" xmlns:xs="http://www.w3.org/2001/XMLSchema" xmlns:p="http://schemas.microsoft.com/office/2006/metadata/properties" xmlns:ns3="ed5d48a5-06c8-4794-a29c-45aaf56cb659" targetNamespace="http://schemas.microsoft.com/office/2006/metadata/properties" ma:root="true" ma:fieldsID="4087983af453c7af28c7c71847fae8fb" ns3:_="">
    <xsd:import namespace="ed5d48a5-06c8-4794-a29c-45aaf56cb65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5d48a5-06c8-4794-a29c-45aaf56cb6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5d48a5-06c8-4794-a29c-45aaf56cb659" xsi:nil="true"/>
  </documentManagement>
</p:properties>
</file>

<file path=customXml/itemProps1.xml><?xml version="1.0" encoding="utf-8"?>
<ds:datastoreItem xmlns:ds="http://schemas.openxmlformats.org/officeDocument/2006/customXml" ds:itemID="{EB7A8A47-F7A6-4CC5-9EC8-A856D59148D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33FCAD-EFFC-4698-9D35-D6972C1067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5d48a5-06c8-4794-a29c-45aaf56cb65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FFC5589-73A9-42F0-9AF4-028C3EC66BD9}">
  <ds:schemaRefs>
    <ds:schemaRef ds:uri="http://purl.org/dc/elements/1.1/"/>
    <ds:schemaRef ds:uri="http://www.w3.org/XML/1998/namespace"/>
    <ds:schemaRef ds:uri="ed5d48a5-06c8-4794-a29c-45aaf56cb659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Girişimcilik1</Template>
  <TotalTime>0</TotalTime>
  <Words>1470</Words>
  <Application>Microsoft Office PowerPoint</Application>
  <PresentationFormat>Özel</PresentationFormat>
  <Paragraphs>210</Paragraphs>
  <Slides>25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25</vt:i4>
      </vt:variant>
    </vt:vector>
  </HeadingPairs>
  <TitlesOfParts>
    <vt:vector size="31" baseType="lpstr">
      <vt:lpstr>Arial</vt:lpstr>
      <vt:lpstr>Calibri</vt:lpstr>
      <vt:lpstr>Open Sauce Bold</vt:lpstr>
      <vt:lpstr>Anton</vt:lpstr>
      <vt:lpstr>Open Sauce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Mehmet İpek</dc:creator>
  <cp:lastModifiedBy>Mehmet İpek</cp:lastModifiedBy>
  <cp:revision>1</cp:revision>
  <dcterms:created xsi:type="dcterms:W3CDTF">2026-03-11T21:49:12Z</dcterms:created>
  <dcterms:modified xsi:type="dcterms:W3CDTF">2026-03-11T21:49:22Z</dcterms:modified>
  <dc:identifier>DAHDjxKHoPU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0x0101001E618EB03831F24AB3BEF4BC9FF95ECA</vt:lpwstr>
  </property>
</Properties>
</file>